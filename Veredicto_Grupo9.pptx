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jurídicas com inteligência artificial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 ·  Hackathon UFMG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0"/>
            <a:ext cx="43891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15.000</a:t>
            </a:r>
            <a:endParaRPr lang="en-US" sz="9600" dirty="0"/>
          </a:p>
        </p:txBody>
      </p:sp>
      <p:sp>
        <p:nvSpPr>
          <p:cNvPr id="3" name="Shape 1"/>
          <p:cNvSpPr/>
          <p:nvPr/>
        </p:nvSpPr>
        <p:spPr>
          <a:xfrm>
            <a:off x="4800600" y="640080"/>
            <a:ext cx="36576" cy="384048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1005840"/>
            <a:ext cx="38404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jurídicos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chegarão todo mês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Banco UFMG.</a:t>
            </a:r>
            <a:endParaRPr lang="en-US" sz="22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precisa decidir</a:t>
            </a:r>
            <a:endParaRPr lang="en-US" sz="2200" dirty="0"/>
          </a:p>
          <a:p>
            <a:pPr indent="0" marL="0">
              <a:buNone/>
            </a:pPr>
            <a:r>
              <a:rPr lang="en-US" sz="17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fazer com cada um.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desses 15 mil...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1097280" y="640080"/>
            <a:ext cx="6949440" cy="2377440"/>
          </a:xfrm>
          <a:prstGeom prst="rect">
            <a:avLst/>
          </a:prstGeom>
          <a:solidFill>
            <a:srgbClr val="111111"/>
          </a:solidFill>
          <a:ln w="31750">
            <a:solidFill>
              <a:srgbClr val="F5C8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777240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casos/mês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188720" y="160020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"Eu não reconheço essa dívida."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3200400"/>
            <a:ext cx="402336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32918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DEFENDER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condenação maior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846320" y="3200400"/>
            <a:ext cx="4023360" cy="1600200"/>
          </a:xfrm>
          <a:prstGeom prst="rect">
            <a:avLst/>
          </a:prstGeom>
          <a:solidFill>
            <a:srgbClr val="1A1A1A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3291840"/>
            <a:ext cx="3840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ACORDAR</a:t>
            </a:r>
            <a:endParaRPr lang="en-US" sz="18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certo, encerra rápido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é hoje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74320" y="914400"/>
            <a:ext cx="2651760" cy="384048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005840"/>
            <a:ext cx="2468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👨‍💼</a:t>
            </a:r>
            <a:endParaRPr lang="en-US" sz="28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Advogado recebe o processo</a:t>
            </a:r>
            <a:endParaRPr lang="en-US" sz="2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Lê 7 documentos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"no feeling"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46120" y="914400"/>
            <a:ext cx="2651760" cy="384048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37560" y="1005840"/>
            <a:ext cx="2468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28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não sabe</a:t>
            </a:r>
            <a:endParaRPr lang="en-US" sz="28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 decisão foi boa</a:t>
            </a:r>
            <a:endParaRPr lang="en-US" sz="2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8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 anos depois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217920" y="914400"/>
            <a:ext cx="2651760" cy="384048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005840"/>
            <a:ext cx="246888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</a:t>
            </a:r>
            <a:endParaRPr lang="en-US" sz="5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vezes</a:t>
            </a:r>
            <a:endParaRPr lang="en-US" sz="5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mês.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que decide com você.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228600" y="914400"/>
            <a:ext cx="1783080" cy="3108960"/>
          </a:xfrm>
          <a:prstGeom prst="rect">
            <a:avLst/>
          </a:prstGeom>
          <a:solidFill>
            <a:srgbClr val="1414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051560"/>
            <a:ext cx="1691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
</a:t>
            </a:r>
            <a:endParaRPr lang="en-US" sz="26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
CHEGA
</a:t>
            </a:r>
            <a:endParaRPr lang="en-US" sz="2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Autos + Subsídios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57400" y="2468880"/>
            <a:ext cx="576072" cy="0"/>
          </a:xfrm>
          <a:prstGeom prst="line">
            <a:avLst/>
          </a:prstGeom>
          <a:noFill/>
          <a:ln w="3175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14600" y="230428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679192" y="914400"/>
            <a:ext cx="1783080" cy="3108960"/>
          </a:xfrm>
          <a:prstGeom prst="rect">
            <a:avLst/>
          </a:prstGeom>
          <a:solidFill>
            <a:srgbClr val="141414"/>
          </a:solidFill>
          <a:ln w="2540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24912" y="1051560"/>
            <a:ext cx="1691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
</a:t>
            </a:r>
            <a:endParaRPr lang="en-US" sz="26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VEREDICTO
ANALISA
</a:t>
            </a:r>
            <a:endParaRPr lang="en-US" sz="2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docs em segundos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4507992" y="2468880"/>
            <a:ext cx="576072" cy="0"/>
          </a:xfrm>
          <a:prstGeom prst="line">
            <a:avLst/>
          </a:prstGeom>
          <a:noFill/>
          <a:ln w="31750">
            <a:solidFill>
              <a:srgbClr val="F5C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230428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129784" y="914400"/>
            <a:ext cx="1783080" cy="3108960"/>
          </a:xfrm>
          <a:prstGeom prst="rect">
            <a:avLst/>
          </a:prstGeom>
          <a:solidFill>
            <a:srgbClr val="1414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75504" y="1051560"/>
            <a:ext cx="1691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
</a:t>
            </a:r>
            <a:endParaRPr lang="en-US" sz="26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
</a:t>
            </a:r>
            <a:endParaRPr lang="en-US" sz="2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 ou defesa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valor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958584" y="2468880"/>
            <a:ext cx="576072" cy="0"/>
          </a:xfrm>
          <a:prstGeom prst="line">
            <a:avLst/>
          </a:prstGeom>
          <a:noFill/>
          <a:ln w="31750">
            <a:solidFill>
              <a:srgbClr val="F5C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15784" y="230428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580376" y="914400"/>
            <a:ext cx="1783080" cy="3108960"/>
          </a:xfrm>
          <a:prstGeom prst="rect">
            <a:avLst/>
          </a:prstGeom>
          <a:solidFill>
            <a:srgbClr val="14141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6096" y="1051560"/>
            <a:ext cx="16916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
</a:t>
            </a:r>
            <a:endParaRPr lang="en-US" sz="26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
</a:t>
            </a:r>
            <a:endParaRPr lang="en-US" sz="2600" dirty="0"/>
          </a:p>
          <a:p>
            <a:pPr algn="ctr"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 +</a:t>
            </a:r>
            <a:endParaRPr lang="en-US" sz="2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Efetividade</a:t>
            </a:r>
            <a:endParaRPr lang="en-US" sz="2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Veredicto lê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4048" y="777240"/>
            <a:ext cx="2606040" cy="822960"/>
          </a:xfrm>
          <a:prstGeom prst="rect">
            <a:avLst/>
          </a:prstGeom>
          <a:solidFill>
            <a:srgbClr val="111111"/>
          </a:solidFill>
          <a:ln w="15240">
            <a:solidFill>
              <a:srgbClr val="F5C84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22960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Autos do Processo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127248" y="777240"/>
            <a:ext cx="2606040" cy="822960"/>
          </a:xfrm>
          <a:prstGeom prst="rect">
            <a:avLst/>
          </a:prstGeom>
          <a:solidFill>
            <a:srgbClr val="111111"/>
          </a:solidFill>
          <a:ln w="1524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822960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💳  Extrato Bancário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870448" y="777240"/>
            <a:ext cx="2606040" cy="822960"/>
          </a:xfrm>
          <a:prstGeom prst="rect">
            <a:avLst/>
          </a:prstGeom>
          <a:solidFill>
            <a:srgbClr val="111111"/>
          </a:solidFill>
          <a:ln w="1524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822960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  Comprovante BACEN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4048" y="1764792"/>
            <a:ext cx="2606040" cy="822960"/>
          </a:xfrm>
          <a:prstGeom prst="rect">
            <a:avLst/>
          </a:prstGeom>
          <a:solidFill>
            <a:srgbClr val="111111"/>
          </a:solidFill>
          <a:ln w="15240">
            <a:solidFill>
              <a:srgbClr val="F5C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10512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🔏  Dossiê Veritas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27248" y="1764792"/>
            <a:ext cx="2606040" cy="822960"/>
          </a:xfrm>
          <a:prstGeom prst="rect">
            <a:avLst/>
          </a:prstGeom>
          <a:solidFill>
            <a:srgbClr val="111111"/>
          </a:solidFill>
          <a:ln w="15240">
            <a:solidFill>
              <a:srgbClr val="F5C8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810512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Evolução da Dívida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870448" y="1764792"/>
            <a:ext cx="2606040" cy="822960"/>
          </a:xfrm>
          <a:prstGeom prst="rect">
            <a:avLst/>
          </a:prstGeom>
          <a:solidFill>
            <a:srgbClr val="111111"/>
          </a:solidFill>
          <a:ln w="15240">
            <a:solidFill>
              <a:srgbClr val="F5C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810512"/>
            <a:ext cx="245973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Laudo Referenciado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526280" y="2697480"/>
            <a:ext cx="0" cy="411480"/>
          </a:xfrm>
          <a:prstGeom prst="line">
            <a:avLst/>
          </a:prstGeom>
          <a:noFill/>
          <a:ln w="31750">
            <a:solidFill>
              <a:srgbClr val="F5C8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309067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371600" y="3383280"/>
            <a:ext cx="6400800" cy="1463040"/>
          </a:xfrm>
          <a:prstGeom prst="rect">
            <a:avLst/>
          </a:prstGeom>
          <a:solidFill>
            <a:srgbClr val="111111"/>
          </a:solidFill>
          <a:ln w="31750">
            <a:solidFill>
              <a:srgbClr val="F5C8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3474720"/>
            <a:ext cx="6217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Recomendo ACORDO  ·  Valor sugerido: R$ 3.200</a:t>
            </a:r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Confiança: 87%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advogado, é assim: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011680" y="731520"/>
            <a:ext cx="5120640" cy="3931920"/>
          </a:xfrm>
          <a:prstGeom prst="rect">
            <a:avLst/>
          </a:prstGeom>
          <a:solidFill>
            <a:srgbClr val="1A1A1A"/>
          </a:solidFill>
          <a:ln w="1905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11680" y="731520"/>
            <a:ext cx="5120640" cy="457200"/>
          </a:xfrm>
          <a:prstGeom prst="rect">
            <a:avLst/>
          </a:prstGeom>
          <a:solidFill>
            <a:srgbClr val="22222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48840" y="7772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#0801234     ●  NOVO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94560" y="13258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Recomendação do Veredicto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94560" y="1737360"/>
            <a:ext cx="4754880" cy="0"/>
          </a:xfrm>
          <a:prstGeom prst="line">
            <a:avLst/>
          </a:prstGeom>
          <a:noFill/>
          <a:ln w="1905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0" y="1828800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ACORDO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94560" y="251460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sugerido:  R$ 3.200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194560" y="2907792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Confiança: 87%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3474720"/>
            <a:ext cx="1828800" cy="475488"/>
          </a:xfrm>
          <a:prstGeom prst="rect">
            <a:avLst/>
          </a:prstGeom>
          <a:solidFill>
            <a:srgbClr val="222222"/>
          </a:solidFill>
          <a:ln w="12700">
            <a:solidFill>
              <a:srgbClr val="A0A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86000" y="34747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justificativa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34840" y="3474720"/>
            <a:ext cx="1828800" cy="47548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3474720"/>
            <a:ext cx="18288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Integrado à plataforma Enter existente.  Zero fricção para o advogado.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reduzirmos em apenas 10% as condenações indevidas...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R$ 19.200.000</a:t>
            </a:r>
            <a:endParaRPr lang="en-US" sz="7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ano economizados pelo Banco UFMG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0" y="3291840"/>
            <a:ext cx="4572000" cy="0"/>
          </a:xfrm>
          <a:prstGeom prst="line">
            <a:avLst/>
          </a:prstGeom>
          <a:noFill/>
          <a:ln w="15240">
            <a:solidFill>
              <a:srgbClr val="F5C84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3520440"/>
            <a:ext cx="3931920" cy="132588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6616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 casos/mês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12 meses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10% de melhoria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3520440"/>
            <a:ext cx="3931920" cy="1325880"/>
          </a:xfrm>
          <a:prstGeom prst="rect">
            <a:avLst/>
          </a:prstGeom>
          <a:solidFill>
            <a:srgbClr val="14141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0" y="3566160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médio: R$ 3.200/acordo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condenação de valor maior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da decisão, o trabalho continua.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931920" cy="365760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960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Aderência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Advogados seguindo a política?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3383280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65960"/>
            <a:ext cx="2774290" cy="32004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774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02920" y="2971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aderência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846320" y="822960"/>
            <a:ext cx="3931920" cy="3657600"/>
          </a:xfrm>
          <a:prstGeom prst="rect">
            <a:avLst/>
          </a:prstGeom>
          <a:solidFill>
            <a:srgbClr val="0A0A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9601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Efetividade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983480" y="1417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gerando resultado?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192024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34%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4983480" y="30175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acordos aceitos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baseline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" y="475488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 ·  Tempo real  ·  Ação imediata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baixo do capô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914400" y="777240"/>
            <a:ext cx="7315200" cy="960120"/>
          </a:xfrm>
          <a:prstGeom prst="rect">
            <a:avLst/>
          </a:prstGeom>
          <a:solidFill>
            <a:srgbClr val="1F1F1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51560" y="850392"/>
            <a:ext cx="7040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 </a:t>
            </a:r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Plataforma Enter (integrada)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26280" y="1737360"/>
            <a:ext cx="0" cy="347472"/>
          </a:xfrm>
          <a:prstGeom prst="line">
            <a:avLst/>
          </a:prstGeom>
          <a:noFill/>
          <a:ln w="2540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343400" y="20756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914400" y="2011680"/>
            <a:ext cx="7315200" cy="960120"/>
          </a:xfrm>
          <a:prstGeom prst="rect">
            <a:avLst/>
          </a:prstGeom>
          <a:solidFill>
            <a:srgbClr val="1F1F1F"/>
          </a:solidFill>
          <a:ln w="31750">
            <a:solidFill>
              <a:srgbClr val="F5C8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084832"/>
            <a:ext cx="7040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AGENTE VEREDICTO  </a:t>
            </a:r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LLM (Claude/GPT-4)  +  Análise de documentos  +  Modelo preditivo (60k casos)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26280" y="2971800"/>
            <a:ext cx="0" cy="347472"/>
          </a:xfrm>
          <a:prstGeom prst="line">
            <a:avLst/>
          </a:prstGeom>
          <a:noFill/>
          <a:ln w="25400">
            <a:solidFill>
              <a:srgbClr val="F5C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33101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246120"/>
            <a:ext cx="7315200" cy="960120"/>
          </a:xfrm>
          <a:prstGeom prst="rect">
            <a:avLst/>
          </a:prstGeom>
          <a:solidFill>
            <a:srgbClr val="1F1F1F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3319272"/>
            <a:ext cx="7040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 </a:t>
            </a:r>
            <a:pPr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60.000 sentenças históricas  +  Subsídios do processo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60.000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sentenças reais analisadas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234440" y="3703320"/>
            <a:ext cx="2011680" cy="47548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37033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Procedente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566160" y="3703320"/>
            <a:ext cx="2011680" cy="47548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37033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Improcedente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97880" y="3703320"/>
            <a:ext cx="2011680" cy="47548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97880" y="3703320"/>
            <a:ext cx="20116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histórica do Banco UFMG  ·  Casos de não-reconhecimento  ·  Últimos meses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ainda não resolvemos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78992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com subsídios incompletos reduzem a confiança da recomendação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2267712"/>
            <a:ext cx="822960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340864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precisa ser retreinado com novos resultados periodicamente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529584"/>
            <a:ext cx="8229600" cy="1005840"/>
          </a:xfrm>
          <a:prstGeom prst="rect">
            <a:avLst/>
          </a:prstGeom>
          <a:solidFill>
            <a:srgbClr val="11111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02736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Advogados precisam de onboarding para confiar na IA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mais 1 mês...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2194560"/>
            <a:ext cx="7680960" cy="0"/>
          </a:xfrm>
          <a:prstGeom prst="line">
            <a:avLst/>
          </a:prstGeom>
          <a:noFill/>
          <a:ln w="31750">
            <a:solidFill>
              <a:srgbClr val="F5C84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2057400"/>
            <a:ext cx="274320" cy="27432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88720" y="1234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005840" y="731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1–2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completa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plataforma Enter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34840" y="2057400"/>
            <a:ext cx="274320" cy="27432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60520" y="1234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🧪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977640" y="731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25146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com advogados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reais (feedback loop)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406640" y="2057400"/>
            <a:ext cx="274320" cy="274320"/>
          </a:xfrm>
          <a:prstGeom prst="ellipse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0" y="1234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49440" y="7315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12280" y="2514600"/>
            <a:ext cx="1554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e monitoramento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82296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5.000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320040" y="2880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casos/mês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34015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resolvidos com 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971800" y="731520"/>
            <a:ext cx="0" cy="4023360"/>
          </a:xfrm>
          <a:prstGeom prst="line">
            <a:avLst/>
          </a:prstGeom>
          <a:noFill/>
          <a:ln w="15240">
            <a:solidFill>
              <a:srgbClr val="F5C8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82296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60.000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291840" y="2880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sentenças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91840" y="34015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aprendidas pela IA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731520"/>
            <a:ext cx="0" cy="4023360"/>
          </a:xfrm>
          <a:prstGeom prst="line">
            <a:avLst/>
          </a:prstGeom>
          <a:noFill/>
          <a:ln w="15240">
            <a:solidFill>
              <a:srgbClr val="F5C8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82296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R$ 19M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6263640" y="28803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263640" y="3401568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economia anual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►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Veredicto</a:t>
            </a:r>
            <a:endParaRPr lang="en-US" sz="7200" dirty="0"/>
          </a:p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foi dado.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3749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9  ·  Hackathon UFMG 2026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github.com/Saliv07/hackathon-ufmg-2026-grupo9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VEREDICTO - Hackathon UFMG 2026</dc:title>
  <dc:subject>PptxGenJS Presentation</dc:subject>
  <dc:creator>PptxGenJS</dc:creator>
  <cp:lastModifiedBy>PptxGenJS</cp:lastModifiedBy>
  <cp:revision>1</cp:revision>
  <dcterms:created xsi:type="dcterms:W3CDTF">2026-04-18T01:05:23Z</dcterms:created>
  <dcterms:modified xsi:type="dcterms:W3CDTF">2026-04-18T01:05:23Z</dcterms:modified>
</cp:coreProperties>
</file>